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84" r:id="rId3"/>
    <p:sldId id="301" r:id="rId4"/>
    <p:sldId id="280" r:id="rId5"/>
    <p:sldId id="287" r:id="rId6"/>
    <p:sldId id="262" r:id="rId7"/>
    <p:sldId id="283" r:id="rId8"/>
    <p:sldId id="266" r:id="rId9"/>
    <p:sldId id="289" r:id="rId10"/>
    <p:sldId id="263" r:id="rId11"/>
    <p:sldId id="282" r:id="rId12"/>
    <p:sldId id="264" r:id="rId13"/>
    <p:sldId id="275" r:id="rId14"/>
    <p:sldId id="285" r:id="rId15"/>
    <p:sldId id="270" r:id="rId16"/>
    <p:sldId id="291" r:id="rId17"/>
    <p:sldId id="292" r:id="rId18"/>
    <p:sldId id="293" r:id="rId19"/>
    <p:sldId id="296" r:id="rId20"/>
    <p:sldId id="297" r:id="rId21"/>
    <p:sldId id="298" r:id="rId22"/>
    <p:sldId id="300" r:id="rId23"/>
    <p:sldId id="290" r:id="rId24"/>
    <p:sldId id="28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3A"/>
    <a:srgbClr val="676767"/>
    <a:srgbClr val="FAF0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8D2D42-BB7B-40E6-928B-6213DD89B5CF}" v="4" dt="2025-09-01T06:16:30.110"/>
    <p1510:client id="{BA77645B-515A-4B44-A045-9B2AC5CAAC16}" v="1" dt="2025-09-01T07:18:52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27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EBE36-D452-49B2-BC5E-F25DDEF20ED3}" type="datetimeFigureOut">
              <a:rPr lang="en-GB" smtClean="0"/>
              <a:t>11/09/2025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A44AA-8EC2-41D9-A3D3-17850C1F9C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4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A44AA-8EC2-41D9-A3D3-17850C1F9C4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646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441D-C48A-EAEF-C81C-A8436A666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90243-B3F6-EB2E-31F9-22051F8B8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049C5-0E4F-9E60-7B47-BBB40AE7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60D28-C6ED-1568-F8AF-3FFA8651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7B145-53CC-3B1D-015F-B17A59CC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96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8941-8402-9FA5-6CAA-6FBDAF792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C6C27-4CB8-F13D-040F-A734CF7D3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1461A-FBA5-164D-F4D8-EEFF7665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5F070-1C89-053C-F77D-8F749F06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8C556-DEDF-1889-A606-5B4AED56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51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E82CE-CE86-501D-D574-EAD49A14C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02754-4D74-3776-BD68-41D984B3F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5F6EC-49F9-4525-C22A-15DE545F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E6EBF-C6DF-14B3-2F27-56BD51A9D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E9B6B-1B7E-5C71-AB60-E65FF643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043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9B18-F254-EE52-9926-04C2F393A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8B536-B9A1-852F-350E-22A590687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F50BC-551E-40EA-83F4-5543F996A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4A376-9215-F411-5C25-7769A9868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36E61-1D23-33AD-5399-91F8B16C9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E90AB-BA98-5EF4-1D6D-0765E4CC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25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F011-D64D-090C-079F-89425C85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E502D-4955-FDA4-3A6D-DF8A78384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7B6FF-3C06-3FE1-A4E2-919C5FD1F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83819-8EA2-7FCC-A3B2-6167CC6EE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79F454-E36C-9D63-FF02-109B27525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BB636-3CFC-80A3-B778-D327ECCB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11/09/2025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A3C15-8C7D-CDE8-BB53-C18E078A5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19C6D5-A43B-3F7D-2C39-5AC71192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832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B1E6-B11B-73B5-44BD-A1B55449D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EE820-462E-3882-2FB8-BD8C66B6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11/09/2025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61C54-F33D-8002-442C-77B0A828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2F52C-7267-5988-077E-F89EAD29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399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5254D5-4248-E9AB-B909-7EE41138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11/09/2025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C93759-FC42-D9A9-6AEF-E3F23A104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667ED-3667-39A4-5734-9BE60A39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30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3BE0-EA29-5C38-A587-FA74AB2EE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D9BFD-494B-F83B-287A-A94D65E05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EF074-F04E-8282-8AEC-189DF0F5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1BFE1-AE60-6DFC-2433-A8F3D071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DEE8E-8218-6F94-2BF2-7A17766E4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ED638-11FD-AA1B-1BC4-FE1620DE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837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308D-FDF1-1E2D-63E2-E4E71B11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5146BF-5314-23ED-5D37-98EB4F4AF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B35A6-08E9-62E2-FC17-0528F6126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9ABBC-6369-E192-9B29-CAD2DA938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11/09/2025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6A36D-7668-2AA5-EA45-0059BE8EA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7D1F9-75B6-4D84-0A59-34F94D74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06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AA11-65D8-ADB6-8A49-C20D82A8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8F60C-B9BC-E6AD-B22B-EC6198CDF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7FCFC-DC56-E823-8D98-00A7E7FA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49225-10F7-DE8B-5506-69149BB8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8D5F7-EE72-95F9-E215-2760F7158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320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CE90A7-10A5-EB91-C4A4-E9710B5B7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F12AB-D2FD-BF8F-78B9-D73C25074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604CE-3906-0838-B1C1-D5D3F5B32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11/09/2025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DD754-CAB9-A4E0-8283-D0CB956D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1CAFC-0AC4-DE2E-2973-FA47D1F8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5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A687E-E14D-5B06-488A-4DAC5404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2B3DC-1FFC-7596-6D00-12C5081D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1B98D-A2B3-C56E-D0EB-5EF295B23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02A21-FE86-45F5-9B8B-75D343822DB2}" type="datetimeFigureOut">
              <a:rPr lang="en-GB" smtClean="0"/>
              <a:t>11/09/2025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AF6E5-AEA1-0818-5E83-CC0E17BBC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38594-1EB3-2176-4D4B-E66BE62EF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67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ngchain-ai/open_deep_research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ladkol/crm-data-agent/blob/main/src/agents/data_agent/prompts/crm_business_analyst.py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2-AJszogj7Y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cpservers.org/servers/modelcontextprotocol/fetc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valuating-ai-agents.com/" TargetMode="External"/><Relationship Id="rId2" Type="http://schemas.openxmlformats.org/officeDocument/2006/relationships/hyperlink" Target="https://craig-west.netlify.ap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2188-6D11-9393-FF28-09CC4D2EA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Breaking the Black Box - Evals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6217B-6C60-689B-D97F-62DAE026B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/>
          <a:lstStyle/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Craig West</a:t>
            </a: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https://craig-west.netlify.app/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https://evaluating-ai-agents.com/</a:t>
            </a:r>
          </a:p>
          <a:p>
            <a:r>
              <a:rPr lang="en-GB" dirty="0">
                <a:solidFill>
                  <a:srgbClr val="3A3A3A"/>
                </a:solidFill>
              </a:rPr>
              <a:t>Contains links for slides and eval-framework</a:t>
            </a:r>
          </a:p>
          <a:p>
            <a:r>
              <a:rPr lang="en-GB" dirty="0">
                <a:solidFill>
                  <a:srgbClr val="3A3A3A"/>
                </a:solidFill>
              </a:rPr>
              <a:t>Everything in this talk is included</a:t>
            </a:r>
          </a:p>
        </p:txBody>
      </p:sp>
      <p:pic>
        <p:nvPicPr>
          <p:cNvPr id="5" name="Picture 4" descr="A person in a vest&#10;&#10;AI-generated content may be incorrect.">
            <a:extLst>
              <a:ext uri="{FF2B5EF4-FFF2-40B4-BE49-F238E27FC236}">
                <a16:creationId xmlns:a16="http://schemas.microsoft.com/office/drawing/2014/main" id="{C5699462-BEF0-2C2F-B977-80AD8BEDB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335" y="905871"/>
            <a:ext cx="2309351" cy="2007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A413D5-91FF-176F-D188-6D08F0B88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6882" y="3006161"/>
            <a:ext cx="3408032" cy="340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2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8112AC-AE1E-512F-6403-62CFC187D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4FC0-BEFF-A91F-13F1-D48D169B3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But I don’t use Agents!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86BF2-BAD2-469E-5AFC-FBE278628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>
              <a:lnSpc>
                <a:spcPts val="4500"/>
              </a:lnSpc>
            </a:pPr>
            <a:r>
              <a:rPr lang="en-GB" dirty="0"/>
              <a:t>Perhaps not now, but it might be that your app is required to use Natural Language, (text, voice) from the user as the front end.</a:t>
            </a:r>
          </a:p>
          <a:p>
            <a:pPr>
              <a:lnSpc>
                <a:spcPts val="4500"/>
              </a:lnSpc>
            </a:pPr>
            <a:r>
              <a:rPr lang="en-GB" dirty="0"/>
              <a:t>You might use or incorporate ready made 3rd party software that is Agentic as in the next two slides…</a:t>
            </a:r>
          </a:p>
          <a:p>
            <a:pPr>
              <a:lnSpc>
                <a:spcPts val="4500"/>
              </a:lnSpc>
            </a:pPr>
            <a:r>
              <a:rPr lang="en-GB" dirty="0"/>
              <a:t>or use Model Context Protocol/Agent2Agent in your ‘app’.</a:t>
            </a:r>
          </a:p>
          <a:p>
            <a:pPr>
              <a:lnSpc>
                <a:spcPts val="4500"/>
              </a:lnSpc>
            </a:pPr>
            <a:r>
              <a:rPr lang="en-GB" dirty="0"/>
              <a:t>It may be helpful to understand what Agents are as they seem to crop up everywhere.</a:t>
            </a:r>
          </a:p>
        </p:txBody>
      </p:sp>
    </p:spTree>
    <p:extLst>
      <p:ext uri="{BB962C8B-B14F-4D97-AF65-F5344CB8AC3E}">
        <p14:creationId xmlns:p14="http://schemas.microsoft.com/office/powerpoint/2010/main" val="2551899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68DB-F2D2-7CA9-1BC2-247B2B57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2CB7A-5099-F122-7A14-416B60399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Langchain Deep Research Agent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72A051-1893-52F9-2868-7CC8BEF1B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9314" y="1234476"/>
            <a:ext cx="10596563" cy="4870469"/>
          </a:xfrm>
          <a:solidFill>
            <a:srgbClr val="FAF0E6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29D640-FB0D-6E7D-3BC2-3F2645D1968B}"/>
              </a:ext>
            </a:extLst>
          </p:cNvPr>
          <p:cNvSpPr txBox="1"/>
          <p:nvPr/>
        </p:nvSpPr>
        <p:spPr>
          <a:xfrm>
            <a:off x="882443" y="6104945"/>
            <a:ext cx="10670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hlinkClick r:id="rId3"/>
              </a:rPr>
              <a:t>https://github.com/langchain-ai/open_deep_research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476A36-D4CC-04A8-8BCA-4E5DCB2C14CC}"/>
              </a:ext>
            </a:extLst>
          </p:cNvPr>
          <p:cNvSpPr txBox="1"/>
          <p:nvPr/>
        </p:nvSpPr>
        <p:spPr>
          <a:xfrm>
            <a:off x="1212351" y="2761769"/>
            <a:ext cx="3955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A top performing Deep Research Agent based on certain open benchmarks.</a:t>
            </a:r>
          </a:p>
        </p:txBody>
      </p:sp>
    </p:spTree>
    <p:extLst>
      <p:ext uri="{BB962C8B-B14F-4D97-AF65-F5344CB8AC3E}">
        <p14:creationId xmlns:p14="http://schemas.microsoft.com/office/powerpoint/2010/main" val="2357972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440AF-DD92-7905-6BC8-EE77381BA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E1A2-83B2-14F0-BFEA-861422733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Google CRM Agent</a:t>
            </a:r>
          </a:p>
        </p:txBody>
      </p:sp>
      <p:pic>
        <p:nvPicPr>
          <p:cNvPr id="5" name="Content Placeholder 4" descr="A diagram of a business&#10;&#10;AI-generated content may be incorrect.">
            <a:extLst>
              <a:ext uri="{FF2B5EF4-FFF2-40B4-BE49-F238E27FC236}">
                <a16:creationId xmlns:a16="http://schemas.microsoft.com/office/drawing/2014/main" id="{35C7062D-4D91-6909-2AFE-1BD94FA2B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14" y="1204979"/>
            <a:ext cx="10596563" cy="4870469"/>
          </a:xfrm>
          <a:solidFill>
            <a:srgbClr val="FAF0E6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94F5A6-658B-3303-7ABD-572CD1DE28E5}"/>
              </a:ext>
            </a:extLst>
          </p:cNvPr>
          <p:cNvSpPr txBox="1"/>
          <p:nvPr/>
        </p:nvSpPr>
        <p:spPr>
          <a:xfrm>
            <a:off x="882443" y="6104945"/>
            <a:ext cx="1067030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hlinkClick r:id="rId3"/>
              </a:rPr>
              <a:t>https://github.com/vladkol/crm-data-agent/blob/main/src/agents/data_agent/prompts/crm_business_analyst.py</a:t>
            </a:r>
            <a:endParaRPr lang="en-GB" sz="1600" dirty="0"/>
          </a:p>
          <a:p>
            <a:pPr algn="ctr"/>
            <a:r>
              <a:rPr lang="en-GB" u="sng" dirty="0">
                <a:hlinkClick r:id="rId4"/>
              </a:rPr>
              <a:t>https://www.youtube.com/watch?v=2-AJszogj7Y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279871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57D8D-75A6-7D51-8D6A-0577ACB95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B0CC-EE48-6084-A4EA-5B5D152A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My desired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99520-102A-F40A-3D72-928418B9C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lnSpc>
                <a:spcPts val="4500"/>
              </a:lnSpc>
              <a:buNone/>
            </a:pPr>
            <a:r>
              <a:rPr lang="en-GB" sz="4000" dirty="0"/>
              <a:t>Not for you to fully understand Evals</a:t>
            </a:r>
          </a:p>
          <a:p>
            <a:pPr marL="0" indent="0">
              <a:lnSpc>
                <a:spcPts val="4500"/>
              </a:lnSpc>
              <a:buNone/>
            </a:pPr>
            <a:r>
              <a:rPr lang="en-GB" sz="4000" i="1" dirty="0"/>
              <a:t>But…</a:t>
            </a:r>
          </a:p>
          <a:p>
            <a:pPr marL="0" indent="0" algn="ctr">
              <a:lnSpc>
                <a:spcPts val="4500"/>
              </a:lnSpc>
              <a:buNone/>
            </a:pPr>
            <a:r>
              <a:rPr lang="en-GB" sz="3600" i="1" dirty="0"/>
              <a:t>That Evals are doable</a:t>
            </a:r>
          </a:p>
          <a:p>
            <a:pPr marL="0" indent="0" algn="ctr">
              <a:lnSpc>
                <a:spcPts val="4500"/>
              </a:lnSpc>
              <a:buNone/>
            </a:pPr>
            <a:r>
              <a:rPr lang="en-GB" sz="3600" i="1" dirty="0"/>
              <a:t>There are useful resources available for you</a:t>
            </a:r>
          </a:p>
          <a:p>
            <a:pPr marL="0" indent="0" algn="ctr">
              <a:lnSpc>
                <a:spcPts val="4500"/>
              </a:lnSpc>
              <a:buNone/>
            </a:pPr>
            <a:r>
              <a:rPr lang="en-GB" sz="3600" i="1" dirty="0"/>
              <a:t>Demystify and simplify what an Agent is</a:t>
            </a:r>
          </a:p>
          <a:p>
            <a:pPr marL="0" indent="0">
              <a:lnSpc>
                <a:spcPts val="4500"/>
              </a:lnSpc>
              <a:buNone/>
            </a:pPr>
            <a:r>
              <a:rPr lang="en-GB" sz="3600" dirty="0"/>
              <a:t>There will be some slides and then we will dive into the code and manual (website).</a:t>
            </a:r>
          </a:p>
          <a:p>
            <a:pPr marL="0" indent="0" algn="ctr">
              <a:lnSpc>
                <a:spcPts val="4500"/>
              </a:lnSpc>
              <a:buNone/>
            </a:pPr>
            <a:endParaRPr lang="en-GB" sz="3600" i="1" dirty="0"/>
          </a:p>
        </p:txBody>
      </p:sp>
    </p:spTree>
    <p:extLst>
      <p:ext uri="{BB962C8B-B14F-4D97-AF65-F5344CB8AC3E}">
        <p14:creationId xmlns:p14="http://schemas.microsoft.com/office/powerpoint/2010/main" val="3305599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CAD92-64A2-9E64-259C-D0FEF3A00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9965-CBD5-3274-6734-01C0F3F1D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>
                <a:solidFill>
                  <a:srgbClr val="676767"/>
                </a:solidFill>
              </a:rPr>
              <a:t>About me</a:t>
            </a:r>
            <a:endParaRPr lang="en-GB" dirty="0">
              <a:solidFill>
                <a:srgbClr val="67676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ED4D5-40EE-1AD6-45EB-5319021B1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56" y="1306963"/>
            <a:ext cx="10596715" cy="5013125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A close-up of a machine&#10;&#10;AI-generated content may be incorrect.">
            <a:extLst>
              <a:ext uri="{FF2B5EF4-FFF2-40B4-BE49-F238E27FC236}">
                <a16:creationId xmlns:a16="http://schemas.microsoft.com/office/drawing/2014/main" id="{F3C50833-41C6-6D1F-F30A-524D48933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584" y="1248913"/>
            <a:ext cx="3689634" cy="2767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2068A3-9DA4-4572-DE52-739BD2F63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2947" y="1337937"/>
            <a:ext cx="1717803" cy="2742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040783-80F7-1202-94D3-180CF27290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1733" y="1367823"/>
            <a:ext cx="2023867" cy="26830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CAABF9-7D6A-30DB-DFA8-35DA30991B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3098" y="4212445"/>
            <a:ext cx="6417269" cy="25554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D9A928-8A3F-EBB4-94C3-AF29818388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9314" y="1306963"/>
            <a:ext cx="2782886" cy="27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86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D44DC-78C1-207C-6AC9-57C5DA65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7EDE6-5DB6-48C0-F0EC-A18A20443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Why Evals?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CBE29-30D4-8D5B-1CB7-8662811D0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GB" sz="4000" dirty="0"/>
              <a:t>Ensure TRUST and CAPABILITIES of our AGENTS so that somebody will pay for them.</a:t>
            </a:r>
          </a:p>
          <a:p>
            <a:pPr marL="0" indent="0">
              <a:lnSpc>
                <a:spcPts val="4500"/>
              </a:lnSpc>
              <a:buNone/>
            </a:pPr>
            <a:endParaRPr lang="en-GB" sz="4000" dirty="0"/>
          </a:p>
          <a:p>
            <a:pPr marL="0" indent="0">
              <a:lnSpc>
                <a:spcPts val="4500"/>
              </a:lnSpc>
              <a:buNone/>
            </a:pPr>
            <a:r>
              <a:rPr lang="en-GB" sz="3600" i="1" dirty="0"/>
              <a:t>Would you pay for a substandard product?</a:t>
            </a:r>
          </a:p>
          <a:p>
            <a:pPr marL="0" indent="0">
              <a:lnSpc>
                <a:spcPts val="4500"/>
              </a:lnSpc>
              <a:buNone/>
            </a:pPr>
            <a:r>
              <a:rPr lang="en-GB" sz="3600" i="1" dirty="0"/>
              <a:t>Excellence in an evaluator will rub off on developer prompt code.</a:t>
            </a:r>
          </a:p>
          <a:p>
            <a:pPr marL="0" indent="0">
              <a:lnSpc>
                <a:spcPts val="4500"/>
              </a:lnSpc>
              <a:buNone/>
            </a:pPr>
            <a:r>
              <a:rPr lang="en-GB" sz="3600" i="1" dirty="0"/>
              <a:t>Can we save £ if we use </a:t>
            </a:r>
            <a:r>
              <a:rPr lang="en-GB" sz="3600" i="1"/>
              <a:t>a different LLM?</a:t>
            </a:r>
            <a:endParaRPr lang="en-GB" sz="3600" i="1" dirty="0"/>
          </a:p>
          <a:p>
            <a:pPr marL="0" indent="0" algn="ctr">
              <a:lnSpc>
                <a:spcPts val="4500"/>
              </a:lnSpc>
              <a:buNone/>
            </a:pPr>
            <a:endParaRPr lang="en-GB" sz="3600" i="1" dirty="0"/>
          </a:p>
        </p:txBody>
      </p:sp>
    </p:spTree>
    <p:extLst>
      <p:ext uri="{BB962C8B-B14F-4D97-AF65-F5344CB8AC3E}">
        <p14:creationId xmlns:p14="http://schemas.microsoft.com/office/powerpoint/2010/main" val="3644887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3791B-8DEA-52AA-EE90-B39E7103F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80D4-47D2-5718-8DC0-05BF3D23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Model costs</a:t>
            </a:r>
          </a:p>
        </p:txBody>
      </p:sp>
      <p:pic>
        <p:nvPicPr>
          <p:cNvPr id="4" name="Content Placeholder 3" descr="A graph with colored lines and numbers&#10;&#10;AI-generated content may be incorrect.">
            <a:extLst>
              <a:ext uri="{FF2B5EF4-FFF2-40B4-BE49-F238E27FC236}">
                <a16:creationId xmlns:a16="http://schemas.microsoft.com/office/drawing/2014/main" id="{C05A1683-F503-D79D-B919-D7BBD1D74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676" y="1097729"/>
            <a:ext cx="8280444" cy="48507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9014E3-FCA2-D8C8-C6A2-127E18ED02B5}"/>
              </a:ext>
            </a:extLst>
          </p:cNvPr>
          <p:cNvSpPr txBox="1"/>
          <p:nvPr/>
        </p:nvSpPr>
        <p:spPr>
          <a:xfrm>
            <a:off x="147484" y="6037006"/>
            <a:ext cx="115725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/>
              <a:t>Cost of a unit of ‘intelligence has dropped ~ 99% in last two years and is 10x a year (anecdotal)</a:t>
            </a:r>
          </a:p>
        </p:txBody>
      </p:sp>
    </p:spTree>
    <p:extLst>
      <p:ext uri="{BB962C8B-B14F-4D97-AF65-F5344CB8AC3E}">
        <p14:creationId xmlns:p14="http://schemas.microsoft.com/office/powerpoint/2010/main" val="988705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054C6-8917-D20E-D273-8120BC3DC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C38D0-41FE-8EF6-B85D-AD4F33132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When to use Evals?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91604-D9B5-E437-CC1A-AA6836D7F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GB" sz="3600" i="1" dirty="0"/>
              <a:t>.</a:t>
            </a:r>
          </a:p>
        </p:txBody>
      </p:sp>
      <p:pic>
        <p:nvPicPr>
          <p:cNvPr id="5" name="Picture 4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DA6CAE77-CE52-0982-3169-9D57CB095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67" y="1238865"/>
            <a:ext cx="7814286" cy="5080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571150-50D6-DBAC-508E-95157935EFA8}"/>
              </a:ext>
            </a:extLst>
          </p:cNvPr>
          <p:cNvSpPr txBox="1"/>
          <p:nvPr/>
        </p:nvSpPr>
        <p:spPr>
          <a:xfrm>
            <a:off x="6114614" y="2886982"/>
            <a:ext cx="26828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Raza Habib is the CEO and Cofounder of Humanloop</a:t>
            </a:r>
          </a:p>
          <a:p>
            <a:endParaRPr lang="en-GB" dirty="0"/>
          </a:p>
          <a:p>
            <a:r>
              <a:rPr lang="en-GB" dirty="0"/>
              <a:t>Acquired by Anthropic</a:t>
            </a:r>
          </a:p>
        </p:txBody>
      </p:sp>
      <p:pic>
        <p:nvPicPr>
          <p:cNvPr id="9" name="Graphic 8" descr="Convertible with solid fill">
            <a:extLst>
              <a:ext uri="{FF2B5EF4-FFF2-40B4-BE49-F238E27FC236}">
                <a16:creationId xmlns:a16="http://schemas.microsoft.com/office/drawing/2014/main" id="{4311C918-C2A8-40AA-689D-6D6C00BED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6196" y="-29615"/>
            <a:ext cx="1868718" cy="18687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79CC0E-0C52-38D8-4BF1-DB740FDAFA55}"/>
              </a:ext>
            </a:extLst>
          </p:cNvPr>
          <p:cNvSpPr txBox="1"/>
          <p:nvPr/>
        </p:nvSpPr>
        <p:spPr>
          <a:xfrm>
            <a:off x="8971838" y="1516027"/>
            <a:ext cx="30530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If we are to design and build an F1 race car, we might need a set of specs to develop, test and monitor against.</a:t>
            </a:r>
          </a:p>
        </p:txBody>
      </p:sp>
    </p:spTree>
    <p:extLst>
      <p:ext uri="{BB962C8B-B14F-4D97-AF65-F5344CB8AC3E}">
        <p14:creationId xmlns:p14="http://schemas.microsoft.com/office/powerpoint/2010/main" val="1963721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47564E-77B5-A1B3-4D8A-5BB5653DB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5CE4-27DE-F4A8-F6E6-AB0BFE9E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an AI Agent?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5945021-DA27-E6E7-4078-598B7B83A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67" y="3621288"/>
            <a:ext cx="7819867" cy="2002649"/>
          </a:xfrm>
          <a:solidFill>
            <a:srgbClr val="FAF0E6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0FE6C9-06DD-BD42-AAA1-C250315A7DD0}"/>
              </a:ext>
            </a:extLst>
          </p:cNvPr>
          <p:cNvSpPr txBox="1"/>
          <p:nvPr/>
        </p:nvSpPr>
        <p:spPr>
          <a:xfrm>
            <a:off x="1006867" y="2853273"/>
            <a:ext cx="6185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Anthropic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574A54-4BBE-E586-ECF8-9E088A1BAD42}"/>
              </a:ext>
            </a:extLst>
          </p:cNvPr>
          <p:cNvSpPr txBox="1"/>
          <p:nvPr/>
        </p:nvSpPr>
        <p:spPr>
          <a:xfrm>
            <a:off x="1006866" y="1923040"/>
            <a:ext cx="10428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Many definitions and people opt for ‘Agentic Apps’</a:t>
            </a:r>
          </a:p>
        </p:txBody>
      </p:sp>
    </p:spTree>
    <p:extLst>
      <p:ext uri="{BB962C8B-B14F-4D97-AF65-F5344CB8AC3E}">
        <p14:creationId xmlns:p14="http://schemas.microsoft.com/office/powerpoint/2010/main" val="3202180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41B23-3D3A-3C9B-88A6-3FD8EB1C9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820D4-81FD-4FC2-57D1-F722A524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API</a:t>
            </a:r>
          </a:p>
        </p:txBody>
      </p:sp>
      <p:pic>
        <p:nvPicPr>
          <p:cNvPr id="5" name="Content Placeholder 4">
            <a:hlinkClick r:id="rId3"/>
            <a:extLst>
              <a:ext uri="{FF2B5EF4-FFF2-40B4-BE49-F238E27FC236}">
                <a16:creationId xmlns:a16="http://schemas.microsoft.com/office/drawing/2014/main" id="{28262053-F2FE-0B42-8B58-D4F6DA7A5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542" y="1151739"/>
            <a:ext cx="10499372" cy="5101576"/>
          </a:xfrm>
          <a:solidFill>
            <a:srgbClr val="FAF0E6"/>
          </a:solidFill>
        </p:spPr>
      </p:pic>
    </p:spTree>
    <p:extLst>
      <p:ext uri="{BB962C8B-B14F-4D97-AF65-F5344CB8AC3E}">
        <p14:creationId xmlns:p14="http://schemas.microsoft.com/office/powerpoint/2010/main" val="755290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CA5E2-0CDB-C361-B62D-BAE7C3C30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003C-6A5E-9972-FCE5-6D8AFA785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Prompt/Context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F4FE-0FC2-94FC-9560-4EB76E38A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endParaRPr lang="en-GB" dirty="0"/>
          </a:p>
          <a:p>
            <a:pPr>
              <a:lnSpc>
                <a:spcPts val="3000"/>
              </a:lnSpc>
            </a:pPr>
            <a:r>
              <a:rPr lang="en-GB" dirty="0"/>
              <a:t>Prompt Engineering is going out of fashion and people opt for </a:t>
            </a:r>
            <a:r>
              <a:rPr lang="en-GB" i="1" dirty="0"/>
              <a:t>Context Engineering </a:t>
            </a:r>
            <a:r>
              <a:rPr lang="en-GB" dirty="0"/>
              <a:t>and </a:t>
            </a:r>
            <a:r>
              <a:rPr lang="en-GB" i="1" dirty="0"/>
              <a:t>In Context Learning</a:t>
            </a:r>
            <a:r>
              <a:rPr lang="en-GB" dirty="0"/>
              <a:t>.</a:t>
            </a:r>
          </a:p>
          <a:p>
            <a:pPr>
              <a:lnSpc>
                <a:spcPts val="3000"/>
              </a:lnSpc>
            </a:pPr>
            <a:r>
              <a:rPr lang="en-GB" dirty="0"/>
              <a:t>We create a set of instructions and add </a:t>
            </a:r>
            <a:r>
              <a:rPr lang="en-GB" b="1" dirty="0"/>
              <a:t>additional information </a:t>
            </a:r>
            <a:r>
              <a:rPr lang="en-GB" dirty="0"/>
              <a:t>to a request we send to the LLM.</a:t>
            </a:r>
          </a:p>
          <a:p>
            <a:pPr>
              <a:lnSpc>
                <a:spcPts val="3000"/>
              </a:lnSpc>
            </a:pPr>
            <a:r>
              <a:rPr lang="en-GB" dirty="0"/>
              <a:t>We can let LLM know that more context is available if it tells us which of the </a:t>
            </a:r>
            <a:r>
              <a:rPr lang="en-GB" b="1" dirty="0"/>
              <a:t>tools/functions </a:t>
            </a:r>
            <a:r>
              <a:rPr lang="en-GB" dirty="0"/>
              <a:t>we have told it about it wants us to call with </a:t>
            </a:r>
            <a:r>
              <a:rPr lang="en-GB" b="1" dirty="0"/>
              <a:t>arguments</a:t>
            </a:r>
            <a:r>
              <a:rPr lang="en-GB" dirty="0"/>
              <a:t> it has provided – we will run it on our box and send the extra context/information.</a:t>
            </a:r>
          </a:p>
          <a:p>
            <a:pPr>
              <a:lnSpc>
                <a:spcPts val="3000"/>
              </a:lnSpc>
            </a:pPr>
            <a:r>
              <a:rPr lang="en-GB" dirty="0"/>
              <a:t>The API is STATELESS – we must pass all the information it needs every time as if it was the first time.</a:t>
            </a:r>
          </a:p>
        </p:txBody>
      </p:sp>
    </p:spTree>
    <p:extLst>
      <p:ext uri="{BB962C8B-B14F-4D97-AF65-F5344CB8AC3E}">
        <p14:creationId xmlns:p14="http://schemas.microsoft.com/office/powerpoint/2010/main" val="269013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223AA4-507E-D8B3-7DEB-D9083974A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CC66-10D3-E183-1C5E-7DBAE875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180-degree shift</a:t>
            </a:r>
          </a:p>
        </p:txBody>
      </p:sp>
      <p:pic>
        <p:nvPicPr>
          <p:cNvPr id="5" name="Picture 4" descr="A black computer mouse on a white background&#10;&#10;AI-generated content may be incorrect.">
            <a:extLst>
              <a:ext uri="{FF2B5EF4-FFF2-40B4-BE49-F238E27FC236}">
                <a16:creationId xmlns:a16="http://schemas.microsoft.com/office/drawing/2014/main" id="{4C2BFCCB-3F23-3098-3C1E-2D76213CD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057775" y="1847529"/>
            <a:ext cx="2466975" cy="1847850"/>
          </a:xfrm>
          <a:prstGeom prst="rect">
            <a:avLst/>
          </a:prstGeom>
        </p:spPr>
      </p:pic>
      <p:pic>
        <p:nvPicPr>
          <p:cNvPr id="7" name="Picture 6" descr="A black computer mouse on a white background&#10;&#10;AI-generated content may be incorrect.">
            <a:extLst>
              <a:ext uri="{FF2B5EF4-FFF2-40B4-BE49-F238E27FC236}">
                <a16:creationId xmlns:a16="http://schemas.microsoft.com/office/drawing/2014/main" id="{BDAFD253-325D-AA4F-E8B1-F2175AD4E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332" y="1847530"/>
            <a:ext cx="2466975" cy="1847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5A72E3-B4A4-739E-FAF5-D9B5DFCEC120}"/>
              </a:ext>
            </a:extLst>
          </p:cNvPr>
          <p:cNvSpPr txBox="1"/>
          <p:nvPr/>
        </p:nvSpPr>
        <p:spPr>
          <a:xfrm>
            <a:off x="750014" y="4099388"/>
            <a:ext cx="11065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No more difficult than what we do currently – just 180 degrees different</a:t>
            </a: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53323BF1-393A-213D-B6C3-D6FAA296990D}"/>
              </a:ext>
            </a:extLst>
          </p:cNvPr>
          <p:cNvSpPr/>
          <p:nvPr/>
        </p:nvSpPr>
        <p:spPr>
          <a:xfrm>
            <a:off x="4224046" y="1899809"/>
            <a:ext cx="3184989" cy="1743290"/>
          </a:xfrm>
          <a:prstGeom prst="curved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5AE486-5F44-81B6-3E5C-D762ABEA4AC2}"/>
              </a:ext>
            </a:extLst>
          </p:cNvPr>
          <p:cNvSpPr txBox="1"/>
          <p:nvPr/>
        </p:nvSpPr>
        <p:spPr>
          <a:xfrm>
            <a:off x="750014" y="5078897"/>
            <a:ext cx="11065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“It doesn’t get any easier – just different” - Anon </a:t>
            </a:r>
          </a:p>
        </p:txBody>
      </p:sp>
    </p:spTree>
    <p:extLst>
      <p:ext uri="{BB962C8B-B14F-4D97-AF65-F5344CB8AC3E}">
        <p14:creationId xmlns:p14="http://schemas.microsoft.com/office/powerpoint/2010/main" val="3122446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E7F011-DD73-9195-5B39-D6C9A3D4D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9B005-0E86-2311-D1CE-3D89A18E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Where to start?    What to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1D926-2685-1102-15DA-FE530DB0E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>
              <a:lnSpc>
                <a:spcPts val="4500"/>
              </a:lnSpc>
            </a:pPr>
            <a:r>
              <a:rPr lang="en-GB" dirty="0"/>
              <a:t>We will look at Case Study 1 in the manual and framework.</a:t>
            </a:r>
          </a:p>
          <a:p>
            <a:pPr>
              <a:lnSpc>
                <a:spcPts val="4500"/>
              </a:lnSpc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0A54A-8115-972C-E59F-B1FFBDCE4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9889" y="1992264"/>
            <a:ext cx="4122392" cy="38511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CA9450-E002-D5D5-E96F-FB1BB1E25F92}"/>
              </a:ext>
            </a:extLst>
          </p:cNvPr>
          <p:cNvSpPr txBox="1"/>
          <p:nvPr/>
        </p:nvSpPr>
        <p:spPr>
          <a:xfrm>
            <a:off x="675971" y="2369262"/>
            <a:ext cx="641319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Given an article title, determine if it is about AI.</a:t>
            </a:r>
          </a:p>
          <a:p>
            <a:endParaRPr lang="en-GB" sz="2400" dirty="0"/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Take title and create article of N words (EXPANDER)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In a specified language (TRANSLATOR)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Ensure article is not sensational (EDITOR)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Publisher determines prices with dependent tools (TOOL CALLING)</a:t>
            </a:r>
          </a:p>
          <a:p>
            <a:pPr marL="342900" indent="-342900">
              <a:buFont typeface="+mj-lt"/>
              <a:buAutoNum type="arabicPeriod"/>
            </a:pPr>
            <a:endParaRPr lang="en-GB" sz="2400" dirty="0"/>
          </a:p>
          <a:p>
            <a:r>
              <a:rPr lang="en-GB" sz="2400" dirty="0"/>
              <a:t>PUBLISH = YES only if 1,2 and 3 are YES</a:t>
            </a:r>
          </a:p>
          <a:p>
            <a:endParaRPr lang="en-GB" sz="2400" i="1" dirty="0"/>
          </a:p>
          <a:p>
            <a:r>
              <a:rPr lang="en-GB" sz="2400" i="1" dirty="0"/>
              <a:t>This app could be a leaf of a larger app.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3936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C2438-6F39-1E74-B87F-C7E70AB4D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93777-B841-1FE9-B5E3-7E294CD7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possible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FB872-4B2A-7D41-78EA-741C25866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We build our app with a basic prompt “Write an article on {topic} of around {N} words.”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It all works mechanistically.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Now lets progress…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4764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A7914-9C59-92B8-87EC-0CF6052F3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51BD0-D5CD-1D3A-DA5F-810AC1E58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possible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95495-A29E-5672-D1AA-94890BA4B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We decide to add a simple 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We notice that users like:</a:t>
            </a: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Bullet points – Abstract - Conclusion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2DE13637-5C54-F149-1862-0D879316D033}"/>
              </a:ext>
            </a:extLst>
          </p:cNvPr>
          <p:cNvSpPr/>
          <p:nvPr/>
        </p:nvSpPr>
        <p:spPr>
          <a:xfrm>
            <a:off x="6320413" y="1908469"/>
            <a:ext cx="532563" cy="482321"/>
          </a:xfrm>
          <a:prstGeom prst="hear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119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DB2118-2A00-6EB2-FC00-9E9A4B42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09056-E137-1FD8-1315-8F756AEBA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possible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71EB7-4BEE-9743-713D-3D93F5662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We change our prompt to include these features.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However, only 2% of users give feedback so we decide to use Human Evaluators to give feedback as well as label articles ‘good’ etc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709479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CCCBF-BB4A-48C7-BAAE-8E79BCA1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C75B-7007-3FA8-53A3-6F646F63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possible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26702-F2DA-89CC-4997-B322A5102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We need to draft up guidelines on what an article should contain, its structure and other ways an article is ‘good’.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This exercise further helps our LLM app prompt, and we refine it.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606623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F8A13-9EA9-3F4E-FE91-F4F1F9BE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5A4E-AA37-21E9-EDCB-3EF7FEF4B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possible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62643-B744-1C2B-E936-97DF2E85B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 fontScale="85000" lnSpcReduction="20000"/>
          </a:bodyPr>
          <a:lstStyle/>
          <a:p>
            <a:pPr marL="0" indent="0">
              <a:lnSpc>
                <a:spcPts val="3500"/>
              </a:lnSpc>
              <a:buNone/>
            </a:pPr>
            <a:r>
              <a:rPr lang="en-GB" sz="3600" dirty="0">
                <a:solidFill>
                  <a:srgbClr val="3A3A3A"/>
                </a:solidFill>
              </a:rPr>
              <a:t>We can only handle/afford a small percentage, so we decide to use LLM as  Judge.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Seems illogical but is actually very effective.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lnSpc>
                <a:spcPts val="3500"/>
              </a:lnSpc>
              <a:buNone/>
            </a:pPr>
            <a:r>
              <a:rPr lang="en-GB" sz="3600" dirty="0">
                <a:solidFill>
                  <a:srgbClr val="3A3A3A"/>
                </a:solidFill>
              </a:rPr>
              <a:t>With our original prompt and our human evaluator guidelines we write a prompt for this LLM Judge. We can now process a much greater percentage online and  offline.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It is better than our app! We refine our app prompt…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312621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8893A-DC61-4C1F-F66E-16B9BEF6F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3560D-6E5D-1168-8281-F94F2F5A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possible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F4D6B-1CA0-DB9A-FA7F-A5FA83DEB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Now that we are looking at our data, we see that sometimes the app offers financial advice.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We must prevent this (guardrails) so we create an LLM as Judge that detects if this article had financial advice.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It saves many problems…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293205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7709D9-749A-561E-D646-A04FE9BCB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3FBE5-17E2-228C-18B0-FB0EA14A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possible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7527-D4B3-3EC3-AC11-F3CCC637F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Now that we have a robust way of evaluating our app, we can start to tinker:</a:t>
            </a:r>
            <a:endParaRPr lang="en-GB" sz="2400" dirty="0">
              <a:solidFill>
                <a:srgbClr val="3A3A3A"/>
              </a:solidFill>
            </a:endParaRPr>
          </a:p>
          <a:p>
            <a:r>
              <a:rPr lang="en-GB" dirty="0">
                <a:solidFill>
                  <a:srgbClr val="3A3A3A"/>
                </a:solidFill>
              </a:rPr>
              <a:t>Different models in different places for cost reduction yet same performance? </a:t>
            </a:r>
          </a:p>
          <a:p>
            <a:r>
              <a:rPr lang="en-GB" dirty="0">
                <a:solidFill>
                  <a:srgbClr val="3A3A3A"/>
                </a:solidFill>
              </a:rPr>
              <a:t>Does one part of the app give greater benefit for unit of change than another?</a:t>
            </a:r>
          </a:p>
          <a:p>
            <a:r>
              <a:rPr lang="en-GB" dirty="0">
                <a:solidFill>
                  <a:srgbClr val="3A3A3A"/>
                </a:solidFill>
              </a:rPr>
              <a:t>Can we reduce latency without breaking anything (regression testing)</a:t>
            </a:r>
          </a:p>
          <a:p>
            <a:r>
              <a:rPr lang="en-GB" dirty="0">
                <a:solidFill>
                  <a:srgbClr val="3A3A3A"/>
                </a:solidFill>
              </a:rPr>
              <a:t>Offer a client dashboard of filtered metrics to our clients in real time? They have entrusted us with their business.</a:t>
            </a:r>
          </a:p>
          <a:p>
            <a:r>
              <a:rPr lang="en-GB" i="1" dirty="0">
                <a:solidFill>
                  <a:srgbClr val="3A3A3A"/>
                </a:solidFill>
              </a:rPr>
              <a:t>Process not tools.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467199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E99CB-B7FE-D269-5053-A318EA45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7EF3-3471-3B0A-0B80-BE9C4680A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Demo – our app from earlier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D921D-0A3A-0A9B-28B4-277393912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971" y="1058467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lnSpc>
                <a:spcPts val="4500"/>
              </a:lnSpc>
              <a:buNone/>
            </a:pPr>
            <a:r>
              <a:rPr lang="en-GB" dirty="0"/>
              <a:t>We will look at Case Study 1 in the manual and framework.</a:t>
            </a:r>
          </a:p>
          <a:p>
            <a:pPr>
              <a:lnSpc>
                <a:spcPts val="4500"/>
              </a:lnSpc>
            </a:pPr>
            <a:endParaRPr lang="en-GB" dirty="0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16C13F1D-73CA-929F-46E5-F1983D274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321" y="2503499"/>
            <a:ext cx="4452210" cy="4160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9B59F7-7AA3-F77B-5C7B-D1E26FF52C1D}"/>
              </a:ext>
            </a:extLst>
          </p:cNvPr>
          <p:cNvSpPr txBox="1"/>
          <p:nvPr/>
        </p:nvSpPr>
        <p:spPr>
          <a:xfrm>
            <a:off x="675971" y="1324527"/>
            <a:ext cx="811346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Given an article title, determine if it is about AI (ROUTER)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Take title and create article of N words (EXPANDER)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 a specified language (TRANSLATOR)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Ensure article is not sensational (EDITOR)</a:t>
            </a:r>
          </a:p>
          <a:p>
            <a:endParaRPr lang="en-GB" sz="2400" dirty="0"/>
          </a:p>
          <a:p>
            <a:r>
              <a:rPr lang="en-GB" sz="2400" dirty="0"/>
              <a:t>A ‘good article’ – OMITTED IN DEMO</a:t>
            </a:r>
          </a:p>
          <a:p>
            <a:pPr marL="342900" indent="-342900">
              <a:buFont typeface="+mj-lt"/>
              <a:buAutoNum type="arabicPeriod"/>
            </a:pPr>
            <a:endParaRPr lang="en-GB" sz="2400" dirty="0"/>
          </a:p>
          <a:p>
            <a:r>
              <a:rPr lang="en-GB" sz="2400" dirty="0"/>
              <a:t>PUBLISH = YES only if last three are YES in EDITOR</a:t>
            </a:r>
          </a:p>
          <a:p>
            <a:endParaRPr lang="en-GB" sz="2400" i="1" dirty="0"/>
          </a:p>
          <a:p>
            <a:r>
              <a:rPr lang="en-GB" sz="3200" i="1" dirty="0"/>
              <a:t>Let’s go to the guide and code…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9024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532D0B-499F-6B2B-DF29-2721E71E2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ECCD-969B-2C26-B0C3-CE65C985C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Summary Key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30729-BE9A-44FD-60E7-9CAE04990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r>
              <a:rPr lang="en-GB" dirty="0">
                <a:solidFill>
                  <a:srgbClr val="3A3A3A"/>
                </a:solidFill>
              </a:rPr>
              <a:t>We need to look at the data to determine what are EVAL criteria are</a:t>
            </a:r>
          </a:p>
          <a:p>
            <a:r>
              <a:rPr lang="en-GB" dirty="0">
                <a:solidFill>
                  <a:srgbClr val="3A3A3A"/>
                </a:solidFill>
              </a:rPr>
              <a:t>We need to determine what success will look like</a:t>
            </a:r>
          </a:p>
          <a:p>
            <a:r>
              <a:rPr lang="en-GB" dirty="0">
                <a:solidFill>
                  <a:srgbClr val="3A3A3A"/>
                </a:solidFill>
              </a:rPr>
              <a:t>We will need humans at certain points</a:t>
            </a:r>
          </a:p>
          <a:p>
            <a:r>
              <a:rPr lang="en-GB" dirty="0">
                <a:solidFill>
                  <a:srgbClr val="3A3A3A"/>
                </a:solidFill>
              </a:rPr>
              <a:t>We need a Domain Expert</a:t>
            </a:r>
          </a:p>
          <a:p>
            <a:r>
              <a:rPr lang="en-GB" dirty="0">
                <a:solidFill>
                  <a:srgbClr val="3A3A3A"/>
                </a:solidFill>
              </a:rPr>
              <a:t>LLM Judges are primarily for scaling</a:t>
            </a:r>
          </a:p>
          <a:p>
            <a:r>
              <a:rPr lang="en-GB" dirty="0">
                <a:solidFill>
                  <a:srgbClr val="3A3A3A"/>
                </a:solidFill>
              </a:rPr>
              <a:t>We need to do EVALS on these LLM Judges</a:t>
            </a:r>
          </a:p>
          <a:p>
            <a:r>
              <a:rPr lang="en-GB" dirty="0">
                <a:solidFill>
                  <a:srgbClr val="3A3A3A"/>
                </a:solidFill>
              </a:rPr>
              <a:t>Process more important than tools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5368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ACA70E-FAAB-6030-8F27-A4E223D00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E890-081A-3B32-C506-6FF13671B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7FBBE-121F-6462-358B-A2B6E0DFB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Craig West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https://craig-west.netlify.app/</a:t>
            </a:r>
            <a:endParaRPr lang="en-GB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GB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://evaluating-ai-agents.com/</a:t>
            </a:r>
            <a:endParaRPr lang="en-GB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3A3A3A"/>
                </a:solidFill>
              </a:rPr>
              <a:t>Contact links on the sites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Always have 10 mins to answer questions…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479101-E8FD-13D3-116C-FF2394CC9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0213" y="1413031"/>
            <a:ext cx="2642419" cy="264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75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1141</Words>
  <Application>Microsoft Office PowerPoint</Application>
  <PresentationFormat>Widescreen</PresentationFormat>
  <Paragraphs>144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Breaking the Black Box - Evals</vt:lpstr>
      <vt:lpstr>But I don’t use Agents!</vt:lpstr>
      <vt:lpstr>Langchain Deep Research Agent</vt:lpstr>
      <vt:lpstr>Google CRM Agent</vt:lpstr>
      <vt:lpstr>My desired outcome</vt:lpstr>
      <vt:lpstr>About me</vt:lpstr>
      <vt:lpstr>Why Evals?</vt:lpstr>
      <vt:lpstr>Model costs</vt:lpstr>
      <vt:lpstr>When to use Evals?</vt:lpstr>
      <vt:lpstr>What is an AI Agent?</vt:lpstr>
      <vt:lpstr>API</vt:lpstr>
      <vt:lpstr>What is Prompt/Context Engineering?</vt:lpstr>
      <vt:lpstr>180-degree shift</vt:lpstr>
      <vt:lpstr>Where to start?    What to do?</vt:lpstr>
      <vt:lpstr>A possible workflow</vt:lpstr>
      <vt:lpstr>A possible workflow</vt:lpstr>
      <vt:lpstr>A possible workflow</vt:lpstr>
      <vt:lpstr>A possible workflow</vt:lpstr>
      <vt:lpstr>A possible workflow</vt:lpstr>
      <vt:lpstr>A possible workflow</vt:lpstr>
      <vt:lpstr>A possible workflow</vt:lpstr>
      <vt:lpstr>Demo – our app from earlier</vt:lpstr>
      <vt:lpstr>Summary Key Points</vt:lpstr>
      <vt:lpstr>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Craig West</dc:creator>
  <cp:lastModifiedBy>Craig West</cp:lastModifiedBy>
  <cp:revision>88</cp:revision>
  <dcterms:created xsi:type="dcterms:W3CDTF">2025-08-05T17:00:53Z</dcterms:created>
  <dcterms:modified xsi:type="dcterms:W3CDTF">2025-09-11T16:53:03Z</dcterms:modified>
</cp:coreProperties>
</file>