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7" r:id="rId2"/>
    <p:sldId id="262" r:id="rId3"/>
    <p:sldId id="287" r:id="rId4"/>
    <p:sldId id="275" r:id="rId5"/>
    <p:sldId id="284" r:id="rId6"/>
    <p:sldId id="301" r:id="rId7"/>
    <p:sldId id="280" r:id="rId8"/>
    <p:sldId id="283" r:id="rId9"/>
    <p:sldId id="266" r:id="rId10"/>
    <p:sldId id="289" r:id="rId11"/>
    <p:sldId id="263" r:id="rId12"/>
    <p:sldId id="282" r:id="rId13"/>
    <p:sldId id="302" r:id="rId14"/>
    <p:sldId id="303" r:id="rId15"/>
    <p:sldId id="285" r:id="rId16"/>
    <p:sldId id="270" r:id="rId17"/>
    <p:sldId id="291" r:id="rId18"/>
    <p:sldId id="292" r:id="rId19"/>
    <p:sldId id="293" r:id="rId20"/>
    <p:sldId id="296" r:id="rId21"/>
    <p:sldId id="297" r:id="rId22"/>
    <p:sldId id="298" r:id="rId23"/>
    <p:sldId id="304" r:id="rId24"/>
    <p:sldId id="290" r:id="rId25"/>
    <p:sldId id="286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8D2D42-BB7B-40E6-928B-6213DD89B5CF}" v="4" dt="2025-09-01T06:16:30.110"/>
    <p1510:client id="{BA77645B-515A-4B44-A045-9B2AC5CAAC16}" v="1" dt="2025-09-01T07:18:52.1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6T15:10:27.509"/>
    </inkml:context>
    <inkml:brush xml:id="br0">
      <inkml:brushProperty name="width" value="0.5" units="cm"/>
      <inkml:brushProperty name="height" value="1" units="cm"/>
      <inkml:brushProperty name="color" value="#FF2500"/>
      <inkml:brushProperty name="tip" value="rectangle"/>
      <inkml:brushProperty name="rasterOp" value="maskPen"/>
      <inkml:brushProperty name="ignorePressure" value="1"/>
    </inkml:brush>
  </inkml:definitions>
  <inkml:trace contextRef="#ctx0" brushRef="#br0">10 1 0,'0'3628'0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6T15:11:01.600"/>
    </inkml:context>
    <inkml:brush xml:id="br0">
      <inkml:brushProperty name="width" value="0.5" units="cm"/>
      <inkml:brushProperty name="height" value="1" units="cm"/>
      <inkml:brushProperty name="color" value="#FF2500"/>
      <inkml:brushProperty name="tip" value="rectangle"/>
      <inkml:brushProperty name="rasterOp" value="maskPen"/>
      <inkml:brushProperty name="ignorePressure" value="1"/>
    </inkml:brush>
  </inkml:definitions>
  <inkml:trace contextRef="#ctx0" brushRef="#br0">10 1 0,'0'3628'0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2EBE36-D452-49B2-BC5E-F25DDEF20ED3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5A44AA-8EC2-41D9-A3D3-17850C1F9C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847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5A44AA-8EC2-41D9-A3D3-17850C1F9C4A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2646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angchain-ai/open_deep_research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-AJszogj7Y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mcpservers.org/servers/modelcontextprotocol/fetch" TargetMode="External"/><Relationship Id="rId7" Type="http://schemas.openxmlformats.org/officeDocument/2006/relationships/customXml" Target="../ink/ink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customXml" Target="../ink/ink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evaluating-ai-agents.com/" TargetMode="External"/><Relationship Id="rId2" Type="http://schemas.openxmlformats.org/officeDocument/2006/relationships/hyperlink" Target="https://craig-west.netlify.app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Breaking the Black Box - Evals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https://evaluating-ai-agents.com/</a:t>
            </a:r>
          </a:p>
          <a:p>
            <a:r>
              <a:rPr lang="en-GB" dirty="0">
                <a:solidFill>
                  <a:srgbClr val="3A3A3A"/>
                </a:solidFill>
              </a:rPr>
              <a:t>Contains links for slides and eval-framework</a:t>
            </a:r>
          </a:p>
          <a:p>
            <a:r>
              <a:rPr lang="en-GB" dirty="0">
                <a:solidFill>
                  <a:srgbClr val="3A3A3A"/>
                </a:solidFill>
              </a:rPr>
              <a:t>Everything in this talk is included</a:t>
            </a:r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3335" y="90587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26882" y="3006161"/>
            <a:ext cx="3408032" cy="340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6584" y="1248913"/>
            <a:ext cx="3689634" cy="27672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2947" y="1337937"/>
            <a:ext cx="1717803" cy="27427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21733" y="1367823"/>
            <a:ext cx="2023867" cy="26830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13098" y="4212445"/>
            <a:ext cx="6417269" cy="25554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9314" y="1306963"/>
            <a:ext cx="2782886" cy="27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586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357D8D-75A6-7D51-8D6A-0577ACB9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2B0CC-EE48-6084-A4EA-5B5D152A8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My desired 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99520-102A-F40A-3D72-928418B9C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lnSpc>
                <a:spcPts val="4500"/>
              </a:lnSpc>
              <a:buNone/>
            </a:pPr>
            <a:r>
              <a:rPr lang="en-GB" sz="4000" dirty="0"/>
              <a:t>Not for you to fully understand Evals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4000" i="1" dirty="0"/>
              <a:t>But…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That Evals are doable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There are useful resources available for you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Demystify and simplify what an Agent is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dirty="0"/>
              <a:t>There will be some slides and then we will dive into the code and manual (website).</a:t>
            </a:r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305599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180-degree shift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8112AC-AE1E-512F-6403-62CFC187D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94FC0-BEFF-A91F-13F1-D48D169B3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But I don’t use Agents!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86BF2-BAD2-469E-5AFC-FBE278628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3500"/>
              </a:lnSpc>
            </a:pPr>
            <a:r>
              <a:rPr lang="en-GB" dirty="0"/>
              <a:t>Perhaps not now, but it might be that your app is required to use Natural Language, (text, voice) from the user as the front end.</a:t>
            </a:r>
          </a:p>
          <a:p>
            <a:pPr>
              <a:lnSpc>
                <a:spcPts val="3500"/>
              </a:lnSpc>
            </a:pPr>
            <a:r>
              <a:rPr lang="en-GB" dirty="0"/>
              <a:t>You might use or incorporate ready made 3rd party software that is Agentic as in the next two slides…</a:t>
            </a:r>
          </a:p>
          <a:p>
            <a:pPr>
              <a:lnSpc>
                <a:spcPts val="3500"/>
              </a:lnSpc>
            </a:pPr>
            <a:r>
              <a:rPr lang="en-GB" dirty="0"/>
              <a:t>or use Model Context Protocol/Agent2Agent in your ‘app’.</a:t>
            </a:r>
          </a:p>
          <a:p>
            <a:pPr>
              <a:lnSpc>
                <a:spcPts val="3500"/>
              </a:lnSpc>
            </a:pPr>
            <a:r>
              <a:rPr lang="en-GB" dirty="0"/>
              <a:t>Or need to make an MCP Server</a:t>
            </a:r>
          </a:p>
          <a:p>
            <a:pPr>
              <a:lnSpc>
                <a:spcPts val="3500"/>
              </a:lnSpc>
            </a:pPr>
            <a:r>
              <a:rPr lang="en-GB" dirty="0"/>
              <a:t>It may be helpful to understand what Agents are as they seem to crop up everywhere.</a:t>
            </a:r>
          </a:p>
        </p:txBody>
      </p:sp>
    </p:spTree>
    <p:extLst>
      <p:ext uri="{BB962C8B-B14F-4D97-AF65-F5344CB8AC3E}">
        <p14:creationId xmlns:p14="http://schemas.microsoft.com/office/powerpoint/2010/main" val="2551899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368DB-F2D2-7CA9-1BC2-247B2B57A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2CB7A-5099-F122-7A14-416B60399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Langchain Deep Research Agent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072A051-1893-52F9-2868-7CC8BEF1B5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9314" y="1234476"/>
            <a:ext cx="10596563" cy="4870469"/>
          </a:xfrm>
          <a:solidFill>
            <a:srgbClr val="FAF0E6"/>
          </a:solidFill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D29D640-FB0D-6E7D-3BC2-3F2645D1968B}"/>
              </a:ext>
            </a:extLst>
          </p:cNvPr>
          <p:cNvSpPr txBox="1"/>
          <p:nvPr/>
        </p:nvSpPr>
        <p:spPr>
          <a:xfrm>
            <a:off x="882443" y="6104945"/>
            <a:ext cx="10670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hlinkClick r:id="rId3"/>
              </a:rPr>
              <a:t>https://github.com/langchain-ai/open_deep_research</a:t>
            </a: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476A36-D4CC-04A8-8BCA-4E5DCB2C14CC}"/>
              </a:ext>
            </a:extLst>
          </p:cNvPr>
          <p:cNvSpPr txBox="1"/>
          <p:nvPr/>
        </p:nvSpPr>
        <p:spPr>
          <a:xfrm>
            <a:off x="1212351" y="2761769"/>
            <a:ext cx="395555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A top performing Deep Research Agent based on certain open benchmarks.</a:t>
            </a:r>
          </a:p>
        </p:txBody>
      </p:sp>
    </p:spTree>
    <p:extLst>
      <p:ext uri="{BB962C8B-B14F-4D97-AF65-F5344CB8AC3E}">
        <p14:creationId xmlns:p14="http://schemas.microsoft.com/office/powerpoint/2010/main" val="2357972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204979"/>
            <a:ext cx="10596563" cy="4870469"/>
          </a:xfrm>
          <a:solidFill>
            <a:srgbClr val="FAF0E6"/>
          </a:solidFill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94F5A6-658B-3303-7ABD-572CD1DE28E5}"/>
              </a:ext>
            </a:extLst>
          </p:cNvPr>
          <p:cNvSpPr txBox="1"/>
          <p:nvPr/>
        </p:nvSpPr>
        <p:spPr>
          <a:xfrm>
            <a:off x="882443" y="6104945"/>
            <a:ext cx="1067030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algn="ctr"/>
            <a:r>
              <a:rPr lang="en-GB" u="sng" dirty="0">
                <a:hlinkClick r:id="rId4"/>
              </a:rPr>
              <a:t>https://www.youtube.com/watch?v=2-AJszogj7Y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4D44DC-78C1-207C-6AC9-57C5DA651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7EDE6-5DB6-48C0-F0EC-A18A20443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Why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CBE29-30D4-8D5B-1CB7-8662811D0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4000" dirty="0"/>
              <a:t>Ensure TRUST and CAPABILITIES of our AGENTS so that somebody will pay for them.</a:t>
            </a:r>
          </a:p>
          <a:p>
            <a:pPr marL="0" indent="0">
              <a:lnSpc>
                <a:spcPts val="4500"/>
              </a:lnSpc>
              <a:buNone/>
            </a:pPr>
            <a:endParaRPr lang="en-GB" sz="4000" dirty="0"/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Would you pay for a substandard product?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Excellence in an evaluator will rub off on developer prompt code.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Can we save £ if we use </a:t>
            </a:r>
            <a:r>
              <a:rPr lang="en-GB" sz="3600" i="1"/>
              <a:t>a different LLM?</a:t>
            </a:r>
            <a:endParaRPr lang="en-GB" sz="3600" i="1" dirty="0"/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644887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</p:spTree>
    <p:extLst>
      <p:ext uri="{BB962C8B-B14F-4D97-AF65-F5344CB8AC3E}">
        <p14:creationId xmlns:p14="http://schemas.microsoft.com/office/powerpoint/2010/main" val="988705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D054C6-8917-D20E-D273-8120BC3DC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C38D0-41FE-8EF6-B85D-AD4F3313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When to use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91604-D9B5-E437-CC1A-AA6836D7F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.</a:t>
            </a:r>
          </a:p>
        </p:txBody>
      </p:sp>
      <p:pic>
        <p:nvPicPr>
          <p:cNvPr id="5" name="Picture 4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DA6CAE77-CE52-0982-3169-9D57CB095B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7" y="1238865"/>
            <a:ext cx="7814286" cy="5080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571150-50D6-DBAC-508E-95157935EFA8}"/>
              </a:ext>
            </a:extLst>
          </p:cNvPr>
          <p:cNvSpPr txBox="1"/>
          <p:nvPr/>
        </p:nvSpPr>
        <p:spPr>
          <a:xfrm>
            <a:off x="6114614" y="2886982"/>
            <a:ext cx="26828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Raza Habib is the CEO and Cofounder of Humanloop</a:t>
            </a:r>
          </a:p>
          <a:p>
            <a:endParaRPr lang="en-GB" dirty="0"/>
          </a:p>
          <a:p>
            <a:r>
              <a:rPr lang="en-GB" dirty="0"/>
              <a:t>Acquired by Anthropic</a:t>
            </a:r>
          </a:p>
        </p:txBody>
      </p:sp>
      <p:pic>
        <p:nvPicPr>
          <p:cNvPr id="9" name="Graphic 8" descr="Convertible with solid fill">
            <a:extLst>
              <a:ext uri="{FF2B5EF4-FFF2-40B4-BE49-F238E27FC236}">
                <a16:creationId xmlns:a16="http://schemas.microsoft.com/office/drawing/2014/main" id="{4311C918-C2A8-40AA-689D-6D6C00BED3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66196" y="-29615"/>
            <a:ext cx="1868718" cy="18687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879CC0E-0C52-38D8-4BF1-DB740FDAFA55}"/>
              </a:ext>
            </a:extLst>
          </p:cNvPr>
          <p:cNvSpPr txBox="1"/>
          <p:nvPr/>
        </p:nvSpPr>
        <p:spPr>
          <a:xfrm>
            <a:off x="8971838" y="1516027"/>
            <a:ext cx="305301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If we are to design and build an F1 race car, we might need a set of specs to develop, test and monitor against.</a:t>
            </a:r>
          </a:p>
        </p:txBody>
      </p:sp>
    </p:spTree>
    <p:extLst>
      <p:ext uri="{BB962C8B-B14F-4D97-AF65-F5344CB8AC3E}">
        <p14:creationId xmlns:p14="http://schemas.microsoft.com/office/powerpoint/2010/main" val="1963721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7" y="2853273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and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D41B23-3D3A-3C9B-88A6-3FD8EB1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820D4-81FD-4FC2-57D1-F722A5249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API</a:t>
            </a:r>
          </a:p>
        </p:txBody>
      </p:sp>
      <p:pic>
        <p:nvPicPr>
          <p:cNvPr id="5" name="Content Placeholder 4">
            <a:hlinkClick r:id="rId3"/>
            <a:extLst>
              <a:ext uri="{FF2B5EF4-FFF2-40B4-BE49-F238E27FC236}">
                <a16:creationId xmlns:a16="http://schemas.microsoft.com/office/drawing/2014/main" id="{28262053-F2FE-0B42-8B58-D4F6DA7A50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5542" y="1151739"/>
            <a:ext cx="10499372" cy="5101576"/>
          </a:xfrm>
          <a:solidFill>
            <a:srgbClr val="FAF0E6"/>
          </a:solidFill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78E0214-F3F8-B573-69D9-8481CEB2DA9B}"/>
                  </a:ext>
                </a:extLst>
              </p14:cNvPr>
              <p14:cNvContentPartPr/>
              <p14:nvPr/>
            </p14:nvContentPartPr>
            <p14:xfrm>
              <a:off x="727288" y="4739723"/>
              <a:ext cx="720" cy="13068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78E0214-F3F8-B573-69D9-8481CEB2DA9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47288" y="4560083"/>
                <a:ext cx="360000" cy="166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1EE908-78F0-48E7-D529-50D24EDBAE9E}"/>
                  </a:ext>
                </a:extLst>
              </p14:cNvPr>
              <p14:cNvContentPartPr/>
              <p14:nvPr/>
            </p14:nvContentPartPr>
            <p14:xfrm>
              <a:off x="11642448" y="4739723"/>
              <a:ext cx="720" cy="13068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1EE908-78F0-48E7-D529-50D24EDBAE9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462448" y="4560083"/>
                <a:ext cx="360000" cy="166644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Arrow: Down 14">
            <a:extLst>
              <a:ext uri="{FF2B5EF4-FFF2-40B4-BE49-F238E27FC236}">
                <a16:creationId xmlns:a16="http://schemas.microsoft.com/office/drawing/2014/main" id="{B52D1AA8-7966-AB6F-E7DB-695838D435B0}"/>
              </a:ext>
            </a:extLst>
          </p:cNvPr>
          <p:cNvSpPr/>
          <p:nvPr/>
        </p:nvSpPr>
        <p:spPr>
          <a:xfrm rot="2933217">
            <a:off x="4741002" y="3924691"/>
            <a:ext cx="597159" cy="1362470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52904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2755AC-8D7A-202A-6BC8-53E74C133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E7DD3-2ED3-0476-B31C-47415FDE9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Prompt/Context Engineering?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E56A2DF-6775-B0E5-9F1E-CED070C0B0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067" y="1357254"/>
            <a:ext cx="8584094" cy="5500746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7041957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3954EA-3553-09A9-4A81-B63688B9F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64CF0-C185-0F6E-E958-86CC7C208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Prompt/Context Engineering?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7C40FB-0216-3641-7496-385ADEF540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5067" y="1153947"/>
            <a:ext cx="8584094" cy="5500746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447214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E7F011-DD73-9195-5B39-D6C9A3D4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9B005-0E86-2311-D1CE-3D89A18E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Where to start?    What to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1D926-2685-1102-15DA-FE530DB0E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174906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70A54A-8115-972C-E59F-B1FFBDCE4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09889" y="1992264"/>
            <a:ext cx="4122392" cy="38511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CA9450-E002-D5D5-E96F-FB1BB1E25F92}"/>
              </a:ext>
            </a:extLst>
          </p:cNvPr>
          <p:cNvSpPr txBox="1"/>
          <p:nvPr/>
        </p:nvSpPr>
        <p:spPr>
          <a:xfrm>
            <a:off x="878756" y="1763664"/>
            <a:ext cx="6413198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Given an article title, determine if it is about AI.</a:t>
            </a:r>
          </a:p>
          <a:p>
            <a:endParaRPr lang="en-GB" sz="2400" dirty="0"/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Ensure article is not sensational (EDITOR)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Publisher determines prices with dependent tools (TOOL CALLING) – calculate price and then categorise this price.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GOTO PUBLISH = YES only if 1,2 and 3 are YES</a:t>
            </a:r>
          </a:p>
          <a:p>
            <a:endParaRPr lang="en-GB" sz="2400" i="1" dirty="0"/>
          </a:p>
          <a:p>
            <a:r>
              <a:rPr lang="en-GB" sz="2400" i="1" dirty="0"/>
              <a:t>This app could be a leaf of a larger app.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3936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build our app with a basic prompt “Write an article on {TOPIC} of around {N} words in language {LANGUAGE}.”</a:t>
            </a:r>
          </a:p>
          <a:p>
            <a:pPr marL="0" indent="0">
              <a:buNone/>
            </a:pPr>
            <a:endParaRPr lang="en-GB" sz="1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test manually during dev.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all works mechanistically.</a:t>
            </a:r>
          </a:p>
          <a:p>
            <a:pPr marL="0" indent="0">
              <a:buNone/>
            </a:pPr>
            <a:endParaRPr lang="en-GB" sz="14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lets progress…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DA7914-9C59-92B8-87EC-0CF6052F3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51BD0-D5CD-1D3A-DA5F-810AC1E58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95495-A29E-5672-D1AA-94890BA4B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decide to add a simple          to see what </a:t>
            </a:r>
            <a:r>
              <a:rPr lang="en-GB" sz="3600" dirty="0" err="1">
                <a:solidFill>
                  <a:srgbClr val="3A3A3A"/>
                </a:solidFill>
              </a:rPr>
              <a:t>cusomers</a:t>
            </a:r>
            <a:r>
              <a:rPr lang="en-GB" sz="3600" dirty="0">
                <a:solidFill>
                  <a:srgbClr val="3A3A3A"/>
                </a:solidFill>
              </a:rPr>
              <a:t> like.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notice that users like: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Bullet points – Abstract - Conclusion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Heart 5">
            <a:extLst>
              <a:ext uri="{FF2B5EF4-FFF2-40B4-BE49-F238E27FC236}">
                <a16:creationId xmlns:a16="http://schemas.microsoft.com/office/drawing/2014/main" id="{2DE13637-5C54-F149-1862-0D879316D033}"/>
              </a:ext>
            </a:extLst>
          </p:cNvPr>
          <p:cNvSpPr/>
          <p:nvPr/>
        </p:nvSpPr>
        <p:spPr>
          <a:xfrm>
            <a:off x="6320413" y="1908469"/>
            <a:ext cx="532563" cy="482321"/>
          </a:xfrm>
          <a:prstGeom prst="hear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0119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DB2118-2A00-6EB2-FC00-9E9A4B42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09056-E137-1FD8-1315-8F756AEBA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71EB7-4BEE-9743-713D-3D93F5662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change our prompt to include these features.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However, only 2% of users give feedback so we decide to use Human Evaluators to give feedback as well as label articles as ‘good article’ etc.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709479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CCCBF-BB4A-48C7-BAAE-8E79BCA1A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C75B-7007-3FA8-53A3-6F646F633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26702-F2DA-89CC-4997-B322A5102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need to draft up guidelines on what an article should contain, its structure and other ways an article is ‘good’.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This exercise further helps our LLM app prompt, and we refine it.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606623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1F8A13-9EA9-3F4E-FE91-F4F1F9BEE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65A4E-AA37-21E9-EDCB-3EF7FEF4B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62643-B744-1C2B-E936-97DF2E85B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Autofit/>
          </a:bodyPr>
          <a:lstStyle/>
          <a:p>
            <a:pPr marL="0" indent="0">
              <a:lnSpc>
                <a:spcPts val="3500"/>
              </a:lnSpc>
              <a:buNone/>
            </a:pPr>
            <a:r>
              <a:rPr lang="en-GB" dirty="0">
                <a:solidFill>
                  <a:srgbClr val="3A3A3A"/>
                </a:solidFill>
              </a:rPr>
              <a:t>We can only handle/afford a small percentage, so we decide to use an LLM as  Judge.</a:t>
            </a:r>
          </a:p>
          <a:p>
            <a:pPr marL="0" indent="0">
              <a:buNone/>
            </a:pPr>
            <a:endParaRPr lang="en-GB" sz="900" dirty="0">
              <a:solidFill>
                <a:srgbClr val="3A3A3A"/>
              </a:solidFill>
            </a:endParaRPr>
          </a:p>
          <a:p>
            <a:pPr marL="0" indent="0">
              <a:lnSpc>
                <a:spcPts val="3500"/>
              </a:lnSpc>
              <a:buNone/>
            </a:pPr>
            <a:r>
              <a:rPr lang="en-GB" dirty="0">
                <a:solidFill>
                  <a:srgbClr val="3A3A3A"/>
                </a:solidFill>
              </a:rPr>
              <a:t>Seems illogical but is actually very effective. An uncalibrated </a:t>
            </a:r>
            <a:r>
              <a:rPr lang="en-GB" dirty="0" err="1">
                <a:solidFill>
                  <a:srgbClr val="3A3A3A"/>
                </a:solidFill>
              </a:rPr>
              <a:t>bitof</a:t>
            </a:r>
            <a:r>
              <a:rPr lang="en-GB" dirty="0">
                <a:solidFill>
                  <a:srgbClr val="3A3A3A"/>
                </a:solidFill>
              </a:rPr>
              <a:t> code calibrating another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lnSpc>
                <a:spcPts val="3500"/>
              </a:lnSpc>
              <a:buNone/>
            </a:pPr>
            <a:r>
              <a:rPr lang="en-GB" dirty="0">
                <a:solidFill>
                  <a:srgbClr val="3A3A3A"/>
                </a:solidFill>
              </a:rPr>
              <a:t>With our original prompt and our human evaluator guidelines we write a prompt for this LLM Judge. We can now process a much greater percentage online and  offline.</a:t>
            </a:r>
          </a:p>
          <a:p>
            <a:pPr marL="0" indent="0">
              <a:buNone/>
            </a:pPr>
            <a:endParaRPr lang="en-GB" sz="10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It is better than our app! We refine our app prompt…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126216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8893A-DC61-4C1F-F66E-16B9BEF6F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3560D-6E5D-1168-8281-F94F2F5A0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F4D6B-1CA0-DB9A-FA7F-A5FA83DEBA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are looking at our data, we see that sometimes the app offers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must prevent this (guardrails) so we create an LLM as Judge that detects if this article had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saves many problems…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2932051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7709D9-749A-561E-D646-A04FE9BCB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3FBE5-17E2-228C-18B0-FB0EA14A4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37527-D4B3-3EC3-AC11-F3CCC637F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have a robust way of evaluating our app, we can start to tinker:</a:t>
            </a:r>
            <a:endParaRPr lang="en-GB" sz="2400" dirty="0">
              <a:solidFill>
                <a:srgbClr val="3A3A3A"/>
              </a:solidFill>
            </a:endParaRPr>
          </a:p>
          <a:p>
            <a:r>
              <a:rPr lang="en-GB" dirty="0">
                <a:solidFill>
                  <a:srgbClr val="3A3A3A"/>
                </a:solidFill>
              </a:rPr>
              <a:t>Different models in different places for cost reduction yet same performance? </a:t>
            </a:r>
          </a:p>
          <a:p>
            <a:r>
              <a:rPr lang="en-GB" dirty="0">
                <a:solidFill>
                  <a:srgbClr val="3A3A3A"/>
                </a:solidFill>
              </a:rPr>
              <a:t>Does one part of the app give greater benefit for unit of change than another?</a:t>
            </a:r>
          </a:p>
          <a:p>
            <a:r>
              <a:rPr lang="en-GB" dirty="0">
                <a:solidFill>
                  <a:srgbClr val="3A3A3A"/>
                </a:solidFill>
              </a:rPr>
              <a:t>Can we reduce latency without breaking anything (regression testing)</a:t>
            </a:r>
          </a:p>
          <a:p>
            <a:r>
              <a:rPr lang="en-GB" dirty="0">
                <a:solidFill>
                  <a:srgbClr val="3A3A3A"/>
                </a:solidFill>
              </a:rPr>
              <a:t>Offer a client dashboard of filtered metrics to our clients in real time? They have entrusted us with their business.</a:t>
            </a:r>
          </a:p>
          <a:p>
            <a:r>
              <a:rPr lang="en-GB" i="1" dirty="0">
                <a:solidFill>
                  <a:srgbClr val="3A3A3A"/>
                </a:solidFill>
              </a:rPr>
              <a:t>Process not tools.</a:t>
            </a:r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24671996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EB2D7-07CD-11E5-5630-677F49725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0B960-8F0D-5DBE-4BA4-EB467EAA3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Demo – our app from earlier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48035A-B978-9B03-14AD-E32EC001F9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174906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5EC903-BAA2-BC46-D90E-1E8CA97761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09889" y="1992264"/>
            <a:ext cx="4122392" cy="38511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9B1AD8C-79A9-7657-A216-A377296B5ECC}"/>
              </a:ext>
            </a:extLst>
          </p:cNvPr>
          <p:cNvSpPr txBox="1"/>
          <p:nvPr/>
        </p:nvSpPr>
        <p:spPr>
          <a:xfrm>
            <a:off x="878756" y="1763664"/>
            <a:ext cx="6413198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Given an article title, determine if it is about AI.</a:t>
            </a:r>
          </a:p>
          <a:p>
            <a:endParaRPr lang="en-GB" sz="2400" dirty="0"/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Ensure article is not sensational (EDITOR)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Publisher determines prices with dependent tools (TOOL CALLING) – calculate price and then categorise this price.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GOTO PUBLISH = YES only if 1,2 and 3 are YES</a:t>
            </a:r>
          </a:p>
          <a:p>
            <a:endParaRPr lang="en-GB" sz="2400" i="1" dirty="0"/>
          </a:p>
          <a:p>
            <a:r>
              <a:rPr lang="en-GB" sz="2400" i="1" dirty="0"/>
              <a:t>This app could be a leaf of a larger app.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94876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532D0B-499F-6B2B-DF29-2721E71E2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1ECCD-969B-2C26-B0C3-CE65C985C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 Key Points</a:t>
            </a:r>
            <a:br>
              <a:rPr lang="en-GB" dirty="0">
                <a:solidFill>
                  <a:srgbClr val="676767"/>
                </a:solidFill>
              </a:rPr>
            </a:b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30729-BE9A-44FD-60E7-9CAE04990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599" y="1060606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r>
              <a:rPr lang="en-GB" dirty="0">
                <a:solidFill>
                  <a:srgbClr val="3A3A3A"/>
                </a:solidFill>
              </a:rPr>
              <a:t>Evals are tests we carry out in the same way we would in </a:t>
            </a:r>
            <a:r>
              <a:rPr lang="en-GB" dirty="0" err="1">
                <a:solidFill>
                  <a:srgbClr val="3A3A3A"/>
                </a:solidFill>
              </a:rPr>
              <a:t>tradional</a:t>
            </a:r>
            <a:r>
              <a:rPr lang="en-GB" dirty="0">
                <a:solidFill>
                  <a:srgbClr val="3A3A3A"/>
                </a:solidFill>
              </a:rPr>
              <a:t> software development.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look at the data to determine what are EVAL criteria are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determine what success will look like</a:t>
            </a:r>
          </a:p>
          <a:p>
            <a:r>
              <a:rPr lang="en-GB" dirty="0">
                <a:solidFill>
                  <a:srgbClr val="3A3A3A"/>
                </a:solidFill>
              </a:rPr>
              <a:t>We will need humans at certain points</a:t>
            </a:r>
          </a:p>
          <a:p>
            <a:r>
              <a:rPr lang="en-GB" dirty="0">
                <a:solidFill>
                  <a:srgbClr val="3A3A3A"/>
                </a:solidFill>
              </a:rPr>
              <a:t>We need a Domain Expert</a:t>
            </a:r>
          </a:p>
          <a:p>
            <a:r>
              <a:rPr lang="en-GB" dirty="0">
                <a:solidFill>
                  <a:srgbClr val="3A3A3A"/>
                </a:solidFill>
              </a:rPr>
              <a:t>LLM Judges are primarily for scaling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do EVALS on these LLM Judges</a:t>
            </a:r>
          </a:p>
          <a:p>
            <a:r>
              <a:rPr lang="en-GB" dirty="0">
                <a:solidFill>
                  <a:srgbClr val="3A3A3A"/>
                </a:solidFill>
              </a:rPr>
              <a:t>Process more important than tools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95368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ACA70E-FAAB-6030-8F27-A4E223D00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9E890-081A-3B32-C506-6FF13671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Craig West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7FBBE-121F-6462-358B-A2B6E0DFB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9004"/>
            <a:ext cx="10596715" cy="5190679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GB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://craig-west.netlify.app/</a:t>
            </a:r>
            <a:endParaRPr lang="en-GB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46788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GB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://evaluating-ai-agents.com/</a:t>
            </a:r>
            <a:endParaRPr lang="en-GB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GB" i="1" dirty="0">
                <a:solidFill>
                  <a:srgbClr val="3A3A3A"/>
                </a:solidFill>
              </a:rPr>
              <a:t>Catching 915 train to Brighton so I can’t stay </a:t>
            </a:r>
          </a:p>
          <a:p>
            <a:pPr marL="0" indent="0">
              <a:buNone/>
            </a:pPr>
            <a:r>
              <a:rPr lang="en-GB" i="1" dirty="0">
                <a:solidFill>
                  <a:srgbClr val="3A3A3A"/>
                </a:solidFill>
              </a:rPr>
              <a:t>Afterwards but you can contact me whilst </a:t>
            </a:r>
          </a:p>
          <a:p>
            <a:pPr marL="0" indent="0">
              <a:buNone/>
            </a:pPr>
            <a:r>
              <a:rPr lang="en-GB" i="1" dirty="0">
                <a:solidFill>
                  <a:srgbClr val="3A3A3A"/>
                </a:solidFill>
              </a:rPr>
              <a:t>on train and we can text/call.</a:t>
            </a:r>
          </a:p>
          <a:p>
            <a:pPr marL="0" indent="0">
              <a:buNone/>
            </a:pPr>
            <a:endParaRPr lang="en-GB" i="1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A3A3A"/>
                </a:solidFill>
              </a:rPr>
              <a:t>Contact links on the sites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Always have 10 mins to answer questions…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479101-E8FD-13D3-116C-FF2394CC9C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73682" y="1275435"/>
            <a:ext cx="2959159" cy="2959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075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397</TotalTime>
  <Words>1133</Words>
  <Application>Microsoft Office PowerPoint</Application>
  <PresentationFormat>Widescreen</PresentationFormat>
  <Paragraphs>143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 Theme</vt:lpstr>
      <vt:lpstr>Breaking the Black Box - Evals</vt:lpstr>
      <vt:lpstr>About me</vt:lpstr>
      <vt:lpstr>My desired outcome</vt:lpstr>
      <vt:lpstr>180-degree shift</vt:lpstr>
      <vt:lpstr>But I don’t use Agents!</vt:lpstr>
      <vt:lpstr>Langchain Deep Research Agent</vt:lpstr>
      <vt:lpstr>Google CRM Agent</vt:lpstr>
      <vt:lpstr>Why Evals?</vt:lpstr>
      <vt:lpstr>Model costs</vt:lpstr>
      <vt:lpstr>When to use Evals?</vt:lpstr>
      <vt:lpstr>What is an AI Agent?</vt:lpstr>
      <vt:lpstr>API</vt:lpstr>
      <vt:lpstr>What is Prompt/Context Engineering?</vt:lpstr>
      <vt:lpstr>What is Prompt/Context Engineering?</vt:lpstr>
      <vt:lpstr>Where to start?    What to do?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Demo – our app from earlier</vt:lpstr>
      <vt:lpstr>Summary Key Points </vt:lpstr>
      <vt:lpstr>Craig West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96</cp:revision>
  <dcterms:created xsi:type="dcterms:W3CDTF">2025-08-05T17:00:53Z</dcterms:created>
  <dcterms:modified xsi:type="dcterms:W3CDTF">2025-09-16T18:10:30Z</dcterms:modified>
</cp:coreProperties>
</file>